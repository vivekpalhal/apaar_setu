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Garamond"/>
      <p:regular r:id="rId16"/>
      <p:bold r:id="rId17"/>
      <p:italic r:id="rId18"/>
      <p:boldItalic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Garamond-bold.fntdata"/><Relationship Id="rId16" Type="http://schemas.openxmlformats.org/officeDocument/2006/relationships/font" Target="fonts/Garamon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aramond-boldItalic.fntdata"/><Relationship Id="rId6" Type="http://schemas.openxmlformats.org/officeDocument/2006/relationships/slide" Target="slides/slide1.xml"/><Relationship Id="rId18" Type="http://schemas.openxmlformats.org/officeDocument/2006/relationships/font" Target="fonts/Garamon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hyperlink" Target="https://transformgenai.netlify.app/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3.xml"/>
  <Relationship Id="rId3" Type="http://schemas.openxmlformats.org/officeDocument/2006/relationships/image" Target="../media/image1.png"/>
  <Relationship Id="rIdT1" Type="http://schemas.openxmlformats.org/officeDocument/2006/relationships/image" Target="../media/s3_techstack.png"/>
  <Relationship Id="rIdT2" Type="http://schemas.openxmlformats.org/officeDocument/2006/relationships/image" Target="../media/s3_security.png"/>
  <Relationship Id="rIdT3" Type="http://schemas.openxmlformats.org/officeDocument/2006/relationships/image" Target="../media/s3_upload.png"/>
  <Relationship Id="rIdT4" Type="http://schemas.openxmlformats.org/officeDocument/2006/relationships/image" Target="../media/s3_verify.png"/>
  <Relationship Id="rIdT5" Type="http://schemas.openxmlformats.org/officeDocument/2006/relationships/image" Target="../media/s3_banner.png"/>
  <Relationship Id="rIdT6" Type="http://schemas.openxmlformats.org/officeDocument/2006/relationships/image" Target="../media/s3_techstack_tbl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4.xml"/>
  <Relationship Id="rId3" Type="http://schemas.openxmlformats.org/officeDocument/2006/relationships/image" Target="../media/image1.png"/>
  <Relationship Id="rIdF1" Type="http://schemas.openxmlformats.org/officeDocument/2006/relationships/image" Target="../media/s4_techfeas.png"/>
  <Relationship Id="rIdF2" Type="http://schemas.openxmlformats.org/officeDocument/2006/relationships/image" Target="../media/s4_operfeas.png"/>
  <Relationship Id="rIdF3" Type="http://schemas.openxmlformats.org/officeDocument/2006/relationships/image" Target="../media/s4_econfeas.png"/>
  <Relationship Id="rIdF4" Type="http://schemas.openxmlformats.org/officeDocument/2006/relationships/image" Target="../media/s4_legalfeas.png"/>
  <Relationship Id="rIdF5" Type="http://schemas.openxmlformats.org/officeDocument/2006/relationships/image" Target="../media/s4_viability.png"/>
  <Relationship Id="rIdF6" Type="http://schemas.openxmlformats.org/officeDocument/2006/relationships/image" Target="../media/s4_rollout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5.xml"/>
  <Relationship Id="rId3" Type="http://schemas.openxmlformats.org/officeDocument/2006/relationships/image" Target="../media/image1.png"/>
  <Relationship Id="rIdI1" Type="http://schemas.openxmlformats.org/officeDocument/2006/relationships/image" Target="../media/s5_govbenefits.png"/>
  <Relationship Id="rIdI2" Type="http://schemas.openxmlformats.org/officeDocument/2006/relationships/image" Target="../media/s5_instbenefits.png"/>
  <Relationship Id="rIdI3" Type="http://schemas.openxmlformats.org/officeDocument/2006/relationships/image" Target="../media/s5_stubenefits.png"/>
  <Relationship Id="rIdI4" Type="http://schemas.openxmlformats.org/officeDocument/2006/relationships/image" Target="../media/s5_impactmetrics.png"/>
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197835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73566" y="1715893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/>
          <p:nvPr>
            <p:ph type="ctrTitle"/>
          </p:nvPr>
        </p:nvSpPr>
        <p:spPr>
          <a:xfrm>
            <a:off x="331286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31286" y="1715900"/>
            <a:ext cx="59247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</a:t>
            </a:r>
            <a:r>
              <a:rPr lang="en-US" sz="2000">
                <a:solidFill>
                  <a:schemeClr val="dk1"/>
                </a:solidFill>
              </a:rPr>
              <a:t>26263</a:t>
            </a:r>
            <a:endParaRPr sz="20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r>
              <a:rPr b="1"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rgbClr val="212529"/>
                </a:solidFill>
                <a:highlight>
                  <a:srgbClr val="FFFFFF"/>
                </a:highlight>
              </a:rPr>
              <a:t>Development of an APAAR ID-Based Student Data Management and Verification Platform for AICTE-Approved Institutions</a:t>
            </a:r>
            <a:r>
              <a:rPr lang="en-US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lang="en-US" sz="2000">
                <a:solidFill>
                  <a:srgbClr val="212529"/>
                </a:solidFill>
              </a:rPr>
              <a:t>Smart Automation</a:t>
            </a:r>
            <a:r>
              <a:rPr lang="en-US" sz="2000">
                <a:solidFill>
                  <a:schemeClr val="dk1"/>
                </a:solidFill>
              </a:rPr>
              <a:t> </a:t>
            </a:r>
            <a:endParaRPr sz="2000"/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</a:t>
            </a:r>
            <a:r>
              <a:rPr lang="en-US" sz="2000">
                <a:solidFill>
                  <a:schemeClr val="dk1"/>
                </a:solidFill>
              </a:rPr>
              <a:t>Software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 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</a:rPr>
              <a:t>197835</a:t>
            </a:r>
            <a:r>
              <a:rPr lang="en-US" sz="2000">
                <a:solidFill>
                  <a:schemeClr val="dk1"/>
                </a:solidFill>
              </a:rPr>
              <a:t> </a:t>
            </a:r>
            <a:endParaRPr sz="2000"/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b="1" lang="en-US" sz="2000">
                <a:solidFill>
                  <a:schemeClr val="dk1"/>
                </a:solidFill>
              </a:rPr>
              <a:t> - </a:t>
            </a:r>
            <a:r>
              <a:rPr lang="en-US" sz="2000">
                <a:solidFill>
                  <a:schemeClr val="dk1"/>
                </a:solidFill>
              </a:rPr>
              <a:t>Team ARISE@2026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1425" y="712463"/>
            <a:ext cx="375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76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Noto Sans Symbols"/>
              <a:buChar char="❖"/>
            </a:pPr>
            <a:r>
              <a:rPr b="1" lang="en-US" sz="17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sz="17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4" name="Google Shape;104;p14" title="images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9046" y="5315766"/>
            <a:ext cx="1790202" cy="1040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 rot="900">
            <a:off x="10633105" y="5690564"/>
            <a:ext cx="11454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65675" lIns="65675" spcFirstLastPara="1" rIns="65675" wrap="square" tIns="6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8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4"/>
              </a:rPr>
              <a:t>Prototype</a:t>
            </a:r>
            <a:endParaRPr sz="1868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6" name="Google Shape;106;p14"/>
          <p:cNvSpPr txBox="1"/>
          <p:nvPr>
            <p:ph type="title"/>
          </p:nvPr>
        </p:nvSpPr>
        <p:spPr>
          <a:xfrm>
            <a:off x="2067650" y="152074"/>
            <a:ext cx="75252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APAAR Setu (One Verified Record for Every AICTE Student)</a:t>
            </a:r>
            <a:endParaRPr sz="2700"/>
          </a:p>
        </p:txBody>
      </p:sp>
      <p:sp>
        <p:nvSpPr>
          <p:cNvPr descr="Your startup LOGO" id="107" name="Google Shape;107;p14"/>
          <p:cNvSpPr/>
          <p:nvPr/>
        </p:nvSpPr>
        <p:spPr>
          <a:xfrm>
            <a:off x="127550" y="101050"/>
            <a:ext cx="1940100" cy="503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ARISE@2026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22598" y="73487"/>
            <a:ext cx="1537531" cy="725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/>
          <p:nvPr/>
        </p:nvSpPr>
        <p:spPr>
          <a:xfrm>
            <a:off x="111225" y="1220700"/>
            <a:ext cx="4060200" cy="20433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74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35475" lIns="71025" spcFirstLastPara="1" rIns="71025" wrap="square" tIns="35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219733" y="1256665"/>
            <a:ext cx="37323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5C"/>
              </a:buClr>
              <a:buSzPts val="980"/>
              <a:buFont typeface="Arial"/>
              <a:buNone/>
            </a:pPr>
            <a:r>
              <a:rPr b="1" lang="en-US" sz="1200">
                <a:solidFill>
                  <a:srgbClr val="980000"/>
                </a:solidFill>
              </a:rPr>
              <a:t>P</a:t>
            </a:r>
            <a:r>
              <a:rPr b="1" lang="en-US" sz="12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roblem:</a:t>
            </a:r>
            <a:endParaRPr sz="12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207975" y="1472150"/>
            <a:ext cx="40194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16"/>
              <a:buFont typeface="Arial"/>
              <a:buNone/>
            </a:pPr>
            <a:r>
              <a:rPr lang="en-US" sz="1150"/>
              <a:t>Student Data across 12,000+ institutions is </a:t>
            </a:r>
            <a:r>
              <a:rPr b="1" lang="en-US" sz="1150"/>
              <a:t>fragmented</a:t>
            </a:r>
            <a:r>
              <a:rPr lang="en-US" sz="1150"/>
              <a:t> and </a:t>
            </a:r>
            <a:r>
              <a:rPr b="1" lang="en-US" sz="1150"/>
              <a:t>inconsistent </a:t>
            </a:r>
            <a:r>
              <a:rPr lang="en-US" sz="1150"/>
              <a:t>(ranging from </a:t>
            </a:r>
            <a:r>
              <a:rPr b="1" lang="en-US" sz="1150"/>
              <a:t>manual paper forms</a:t>
            </a:r>
            <a:r>
              <a:rPr lang="en-US" sz="1150"/>
              <a:t> to basic aggregate counts,), making reliable tracking, </a:t>
            </a:r>
            <a:r>
              <a:rPr b="1" lang="en-US" sz="1150"/>
              <a:t>duplicate detection</a:t>
            </a:r>
            <a:r>
              <a:rPr lang="en-US" sz="1150"/>
              <a:t>, and fraud prevention nearly impossible. 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207986" y="2225896"/>
            <a:ext cx="40194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5C"/>
              </a:buClr>
              <a:buSzPts val="980"/>
              <a:buFont typeface="Arial"/>
              <a:buNone/>
            </a:pPr>
            <a:r>
              <a:rPr b="1" lang="en-US" sz="1200">
                <a:solidFill>
                  <a:srgbClr val="980000"/>
                </a:solidFill>
              </a:rPr>
              <a:t>Solution:</a:t>
            </a:r>
            <a:endParaRPr sz="12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207975" y="2465746"/>
            <a:ext cx="3866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77"/>
              <a:buFont typeface="Arial"/>
              <a:buNone/>
            </a:pPr>
            <a:r>
              <a:rPr b="1" lang="en-US" sz="1150"/>
              <a:t>APAAR Setu</a:t>
            </a:r>
            <a:r>
              <a:rPr lang="en-US" sz="1150"/>
              <a:t> introduces a secure,platform built on the national </a:t>
            </a:r>
            <a:r>
              <a:rPr b="1" lang="en-US" sz="1150"/>
              <a:t>APAAR ID</a:t>
            </a:r>
            <a:r>
              <a:rPr lang="en-US" sz="1150"/>
              <a:t>, featuring </a:t>
            </a:r>
            <a:r>
              <a:rPr b="1" lang="en-US" sz="1150"/>
              <a:t>automated data validation</a:t>
            </a:r>
            <a:r>
              <a:rPr lang="en-US" sz="1150"/>
              <a:t>, AI-powered anomaly detection, and tamper-proof </a:t>
            </a:r>
            <a:r>
              <a:rPr b="1" lang="en-US" sz="1150"/>
              <a:t>QR verification. </a:t>
            </a:r>
            <a:endParaRPr b="1"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131625" y="3343075"/>
            <a:ext cx="4060200" cy="27753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74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35475" lIns="71025" spcFirstLastPara="1" rIns="71025" wrap="square" tIns="35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243411" y="3405196"/>
            <a:ext cx="40194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5C"/>
              </a:buClr>
              <a:buSzPts val="980"/>
              <a:buFont typeface="Arial"/>
              <a:buNone/>
            </a:pPr>
            <a:r>
              <a:rPr b="1" lang="en-US" sz="1200">
                <a:solidFill>
                  <a:srgbClr val="980000"/>
                </a:solidFill>
              </a:rPr>
              <a:t>APAAR Setu:</a:t>
            </a:r>
            <a:endParaRPr b="1" sz="12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73775" y="3659450"/>
            <a:ext cx="393510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b="1" lang="en-US" sz="1100">
                <a:solidFill>
                  <a:schemeClr val="dk1"/>
                </a:solidFill>
              </a:rPr>
              <a:t>Data Upload</a:t>
            </a:r>
            <a:r>
              <a:rPr lang="en-US" sz="1100">
                <a:solidFill>
                  <a:schemeClr val="dk1"/>
                </a:solidFill>
              </a:rPr>
              <a:t>: Colleges upload student admission data securely.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b="1" lang="en-US" sz="1100">
                <a:solidFill>
                  <a:schemeClr val="dk1"/>
                </a:solidFill>
              </a:rPr>
              <a:t>Instant Checks</a:t>
            </a:r>
            <a:r>
              <a:rPr lang="en-US" sz="1100">
                <a:solidFill>
                  <a:schemeClr val="dk1"/>
                </a:solidFill>
              </a:rPr>
              <a:t>: System instantly validates file formats and APAAR IDs.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b="1" lang="en-US" sz="1100">
                <a:solidFill>
                  <a:schemeClr val="dk1"/>
                </a:solidFill>
              </a:rPr>
              <a:t>AI Detection</a:t>
            </a:r>
            <a:r>
              <a:rPr lang="en-US" sz="1100">
                <a:solidFill>
                  <a:schemeClr val="dk1"/>
                </a:solidFill>
              </a:rPr>
              <a:t>: Automated workers and AI detect duplicates and over-intake.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b="1" lang="en-US" sz="1100">
                <a:solidFill>
                  <a:schemeClr val="dk1"/>
                </a:solidFill>
              </a:rPr>
              <a:t>Secure Storage</a:t>
            </a:r>
            <a:r>
              <a:rPr lang="en-US" sz="1100">
                <a:solidFill>
                  <a:schemeClr val="dk1"/>
                </a:solidFill>
              </a:rPr>
              <a:t>: Clean, verified records are stored centrally with strict access controls.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b="1" lang="en-US" sz="1100">
                <a:solidFill>
                  <a:schemeClr val="dk1"/>
                </a:solidFill>
              </a:rPr>
              <a:t>Live Dashboards</a:t>
            </a:r>
            <a:r>
              <a:rPr lang="en-US" sz="1100">
                <a:solidFill>
                  <a:schemeClr val="dk1"/>
                </a:solidFill>
              </a:rPr>
              <a:t>: Officers monitor admissions and errors in real time.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b="1" lang="en-US" sz="1100">
                <a:solidFill>
                  <a:schemeClr val="dk1"/>
                </a:solidFill>
              </a:rPr>
              <a:t>QR Verification</a:t>
            </a:r>
            <a:r>
              <a:rPr lang="en-US" sz="1100">
                <a:solidFill>
                  <a:schemeClr val="dk1"/>
                </a:solidFill>
              </a:rPr>
              <a:t>: QR codes allow offline verification of credentials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/>
          </a:p>
        </p:txBody>
      </p:sp>
      <p:pic>
        <p:nvPicPr>
          <p:cNvPr id="117" name="Google Shape;117;p14" title="apaar_setu_system_architectur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7013" y="1053975"/>
            <a:ext cx="4824449" cy="49675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/>
          <p:nvPr/>
        </p:nvSpPr>
        <p:spPr>
          <a:xfrm>
            <a:off x="9008350" y="889950"/>
            <a:ext cx="3030900" cy="44814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74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35475" lIns="71025" spcFirstLastPara="1" rIns="71025" wrap="square" tIns="35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9049600" y="987650"/>
            <a:ext cx="2948400" cy="3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980000"/>
              </a:buClr>
              <a:buSzPts val="1300"/>
              <a:buChar char="❖"/>
            </a:pPr>
            <a:r>
              <a:rPr b="1" lang="en-US" sz="1300">
                <a:solidFill>
                  <a:srgbClr val="980000"/>
                </a:solidFill>
              </a:rPr>
              <a:t>Benefits</a:t>
            </a:r>
            <a:endParaRPr b="1" sz="1300">
              <a:solidFill>
                <a:srgbClr val="98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en-US" sz="1100">
                <a:solidFill>
                  <a:schemeClr val="dk1"/>
                </a:solidFill>
              </a:rPr>
              <a:t>One verified record per student, keyed on APAAR ID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en-US" sz="1100">
                <a:solidFill>
                  <a:schemeClr val="dk1"/>
                </a:solidFill>
              </a:rPr>
              <a:t>Errors caught at upload, not months later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en-US" sz="1100">
                <a:solidFill>
                  <a:schemeClr val="dk1"/>
                </a:solidFill>
              </a:rPr>
              <a:t>Fewer manual cross-checks for AICTE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en-US" sz="1100">
                <a:solidFill>
                  <a:schemeClr val="dk1"/>
                </a:solidFill>
              </a:rPr>
              <a:t>Alerts come with evidence, not just scores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en-US" sz="1100">
                <a:solidFill>
                  <a:schemeClr val="dk1"/>
                </a:solidFill>
              </a:rPr>
              <a:t>Instant, forgery-resistant verification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en-US" sz="1100">
                <a:solidFill>
                  <a:schemeClr val="dk1"/>
                </a:solidFill>
              </a:rPr>
              <a:t>Students control who sees their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en-US" sz="1100">
                <a:solidFill>
                  <a:schemeClr val="dk1"/>
                </a:solidFill>
              </a:rPr>
              <a:t>Fits existing AICTE login and institution systems</a:t>
            </a:r>
            <a:endParaRPr sz="11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300"/>
              <a:buChar char="❖"/>
            </a:pPr>
            <a:r>
              <a:rPr b="1" lang="en-US" sz="1300">
                <a:solidFill>
                  <a:srgbClr val="980000"/>
                </a:solidFill>
              </a:rPr>
              <a:t>Impact</a:t>
            </a:r>
            <a:endParaRPr b="1" sz="1300">
              <a:solidFill>
                <a:srgbClr val="98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b="1" lang="en-US" sz="1100">
                <a:solidFill>
                  <a:schemeClr val="dk1"/>
                </a:solidFill>
              </a:rPr>
              <a:t>Governance:</a:t>
            </a:r>
            <a:r>
              <a:rPr lang="en-US" sz="1100">
                <a:solidFill>
                  <a:schemeClr val="dk1"/>
                </a:solidFill>
              </a:rPr>
              <a:t> real-time view across 15,000+ institutions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b="1" lang="en-US" sz="1100">
                <a:solidFill>
                  <a:schemeClr val="dk1"/>
                </a:solidFill>
              </a:rPr>
              <a:t>Compliance:</a:t>
            </a:r>
            <a:r>
              <a:rPr lang="en-US" sz="1100">
                <a:solidFill>
                  <a:schemeClr val="dk1"/>
                </a:solidFill>
              </a:rPr>
              <a:t> early detection of over-enrolment and double enrolment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b="1" lang="en-US" sz="1100">
                <a:solidFill>
                  <a:schemeClr val="dk1"/>
                </a:solidFill>
              </a:rPr>
              <a:t>Trust:</a:t>
            </a:r>
            <a:r>
              <a:rPr lang="en-US" sz="1100">
                <a:solidFill>
                  <a:schemeClr val="dk1"/>
                </a:solidFill>
              </a:rPr>
              <a:t> employers can verify a record in seconds, not days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b="1" lang="en-US" sz="1100">
                <a:solidFill>
                  <a:schemeClr val="dk1"/>
                </a:solidFill>
              </a:rPr>
              <a:t>Privacy:</a:t>
            </a:r>
            <a:r>
              <a:rPr lang="en-US" sz="1100">
                <a:solidFill>
                  <a:schemeClr val="dk1"/>
                </a:solidFill>
              </a:rPr>
              <a:t> verifiers see only what the student allows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b="1" lang="en-US" sz="1100">
                <a:solidFill>
                  <a:schemeClr val="dk1"/>
                </a:solidFill>
              </a:rPr>
              <a:t>Efficiency:</a:t>
            </a:r>
            <a:r>
              <a:rPr lang="en-US" sz="1100">
                <a:solidFill>
                  <a:schemeClr val="dk1"/>
                </a:solidFill>
              </a:rPr>
              <a:t> less rework for institutions, faster review for AICTE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b="1" lang="en-US" sz="1100">
                <a:solidFill>
                  <a:schemeClr val="dk1"/>
                </a:solidFill>
              </a:rPr>
              <a:t>Scale:</a:t>
            </a:r>
            <a:r>
              <a:rPr lang="en-US" sz="1100">
                <a:solidFill>
                  <a:schemeClr val="dk1"/>
                </a:solidFill>
              </a:rPr>
              <a:t> a base that can extend to UGC, NCVET, and state boards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/>
          </a:p>
        </p:txBody>
      </p:sp>
      <p:pic>
        <p:nvPicPr>
          <p:cNvPr id="120" name="Google Shape;120;p14" title="images-Photoroo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 rot="9712987">
            <a:off x="8811283" y="5498343"/>
            <a:ext cx="1557484" cy="88093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4328825" y="1140650"/>
            <a:ext cx="4521900" cy="4881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0" y="6284051"/>
            <a:ext cx="12192000" cy="43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>
            <p:ph type="title"/>
          </p:nvPr>
        </p:nvSpPr>
        <p:spPr>
          <a:xfrm>
            <a:off x="847725" y="96834"/>
            <a:ext cx="995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3200"/>
          </a:p>
        </p:txBody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8737600" y="6327489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33" name="Google Shape;133;p1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35" name="Google Shape;135;p15"/>
          <p:cNvSpPr/>
          <p:nvPr/>
        </p:nvSpPr>
        <p:spPr>
          <a:xfrm>
            <a:off x="127550" y="101050"/>
            <a:ext cx="1940100" cy="503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ARISE@2026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3204000" y="5245900"/>
            <a:ext cx="8928300" cy="9726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740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35475" lIns="71025" spcFirstLastPara="1" rIns="71025" wrap="square" tIns="35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85850" y="658725"/>
            <a:ext cx="2988300" cy="389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07850" y="4642138"/>
            <a:ext cx="2988300" cy="1598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3192600" y="658725"/>
            <a:ext cx="8928300" cy="4521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00" name="TechStack" title="TechStack"/>
          <p:cNvPicPr preferRelativeResize="0"/>
          <p:nvPr/>
        </p:nvPicPr>
        <p:blipFill rotWithShape="1">
          <a:blip r:embed="rIdT1">
            <a:alphaModFix/>
          </a:blip>
          <a:stretch>
            <a:fillRect/>
          </a:stretch>
        </p:blipFill>
        <p:spPr>
          <a:xfrm>
            <a:off x="34000" y="700000"/>
            <a:ext cx="2980000" cy="370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201" name="Security" title="Security"/>
          <p:cNvPicPr preferRelativeResize="0"/>
          <p:nvPr/>
        </p:nvPicPr>
        <p:blipFill rotWithShape="1">
          <a:blip r:embed="rIdT2">
            <a:alphaModFix/>
          </a:blip>
          <a:stretch>
            <a:fillRect/>
          </a:stretch>
        </p:blipFill>
        <p:spPr>
          <a:xfrm>
            <a:off x="34000" y="4480000"/>
            <a:ext cx="2980000" cy="170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202" name="UploadFlow" title="UploadFlow"/>
          <p:cNvPicPr preferRelativeResize="0"/>
          <p:nvPr/>
        </p:nvPicPr>
        <p:blipFill rotWithShape="1">
          <a:blip r:embed="rIdT3">
            <a:alphaModFix/>
          </a:blip>
          <a:stretch>
            <a:fillRect/>
          </a:stretch>
        </p:blipFill>
        <p:spPr>
          <a:xfrm>
            <a:off x="3100000" y="700000"/>
            <a:ext cx="4050000" cy="270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203" name="VerifyFlow" title="VerifyFlow"/>
          <p:cNvPicPr preferRelativeResize="0"/>
          <p:nvPr/>
        </p:nvPicPr>
        <p:blipFill rotWithShape="1">
          <a:blip r:embed="rIdT4">
            <a:alphaModFix/>
          </a:blip>
          <a:stretch>
            <a:fillRect/>
          </a:stretch>
        </p:blipFill>
        <p:spPr>
          <a:xfrm>
            <a:off x="7250000" y="700000"/>
            <a:ext cx="4750000" cy="270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204" name="FlowBanner" title="FlowBanner"/>
          <p:cNvPicPr preferRelativeResize="0"/>
          <p:nvPr/>
        </p:nvPicPr>
        <p:blipFill rotWithShape="1">
          <a:blip r:embed="rIdT5">
            <a:alphaModFix/>
          </a:blip>
          <a:stretch>
            <a:fillRect/>
          </a:stretch>
        </p:blipFill>
        <p:spPr>
          <a:xfrm>
            <a:off x="3100000" y="3480000"/>
            <a:ext cx="8900000" cy="90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205" name="TechStackTable" title="TechStackTable"/>
          <p:cNvPicPr preferRelativeResize="0"/>
          <p:nvPr/>
        </p:nvPicPr>
        <p:blipFill rotWithShape="1">
          <a:blip r:embed="rIdT6">
            <a:alphaModFix/>
          </a:blip>
          <a:stretch>
            <a:fillRect/>
          </a:stretch>
        </p:blipFill>
        <p:spPr>
          <a:xfrm>
            <a:off x="3100000" y="4450000"/>
            <a:ext cx="8900000" cy="170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199" name="SIH_Logo" title="SIH_Logo"/>
          <p:cNvPicPr preferRelativeResize="0"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10200000" y="80000"/>
            <a:ext cx="1750000" cy="8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type="title"/>
          </p:nvPr>
        </p:nvSpPr>
        <p:spPr>
          <a:xfrm>
            <a:off x="763800" y="128025"/>
            <a:ext cx="109728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3400"/>
          </a:p>
        </p:txBody>
      </p:sp>
      <p:sp>
        <p:nvSpPr>
          <p:cNvPr id="149" name="Google Shape;149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0" name="Google Shape;150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4" name="Google Shape;154;p16"/>
          <p:cNvSpPr/>
          <p:nvPr/>
        </p:nvSpPr>
        <p:spPr>
          <a:xfrm>
            <a:off x="127550" y="101050"/>
            <a:ext cx="1940100" cy="503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ARISE@2026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300" name="TechFeas" title="TechFeas"/>
          <p:cNvPicPr preferRelativeResize="0"/>
          <p:nvPr/>
        </p:nvPicPr>
        <p:blipFill rotWithShape="1">
          <a:blip r:embed="rIdF1">
            <a:alphaModFix/>
          </a:blip>
          <a:stretch>
            <a:fillRect/>
          </a:stretch>
        </p:blipFill>
        <p:spPr>
          <a:xfrm>
            <a:off x="240000" y="730000"/>
            <a:ext cx="5760000" cy="172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301" name="OperFeas" title="OperFeas"/>
          <p:cNvPicPr preferRelativeResize="0"/>
          <p:nvPr/>
        </p:nvPicPr>
        <p:blipFill rotWithShape="1">
          <a:blip r:embed="rIdF2">
            <a:alphaModFix/>
          </a:blip>
          <a:stretch>
            <a:fillRect/>
          </a:stretch>
        </p:blipFill>
        <p:spPr>
          <a:xfrm>
            <a:off x="6120000" y="730000"/>
            <a:ext cx="5760000" cy="172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302" name="EconFeas" title="EconFeas"/>
          <p:cNvPicPr preferRelativeResize="0"/>
          <p:nvPr/>
        </p:nvPicPr>
        <p:blipFill rotWithShape="1">
          <a:blip r:embed="rIdF3">
            <a:alphaModFix/>
          </a:blip>
          <a:stretch>
            <a:fillRect/>
          </a:stretch>
        </p:blipFill>
        <p:spPr>
          <a:xfrm>
            <a:off x="240000" y="2560000"/>
            <a:ext cx="5760000" cy="172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303" name="LegalFeas" title="LegalFeas"/>
          <p:cNvPicPr preferRelativeResize="0"/>
          <p:nvPr/>
        </p:nvPicPr>
        <p:blipFill rotWithShape="1">
          <a:blip r:embed="rIdF4">
            <a:alphaModFix/>
          </a:blip>
          <a:stretch>
            <a:fillRect/>
          </a:stretch>
        </p:blipFill>
        <p:spPr>
          <a:xfrm>
            <a:off x="6120000" y="2560000"/>
            <a:ext cx="5760000" cy="172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304" name="Viability" title="Viability"/>
          <p:cNvPicPr preferRelativeResize="0"/>
          <p:nvPr/>
        </p:nvPicPr>
        <p:blipFill rotWithShape="1">
          <a:blip r:embed="rIdF5">
            <a:alphaModFix/>
          </a:blip>
          <a:stretch>
            <a:fillRect/>
          </a:stretch>
        </p:blipFill>
        <p:spPr>
          <a:xfrm>
            <a:off x="240000" y="4390000"/>
            <a:ext cx="5760000" cy="172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305" name="Rollout" title="Rollout"/>
          <p:cNvPicPr preferRelativeResize="0"/>
          <p:nvPr/>
        </p:nvPicPr>
        <p:blipFill rotWithShape="1">
          <a:blip r:embed="rIdF6">
            <a:alphaModFix/>
          </a:blip>
          <a:stretch>
            <a:fillRect/>
          </a:stretch>
        </p:blipFill>
        <p:spPr>
          <a:xfrm>
            <a:off x="6120000" y="4390000"/>
            <a:ext cx="5760000" cy="172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199" name="SIH_Logo" title="SIH_Logo"/>
          <p:cNvPicPr preferRelativeResize="0"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10200000" y="80000"/>
            <a:ext cx="1750000" cy="8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>
            <p:ph type="title"/>
          </p:nvPr>
        </p:nvSpPr>
        <p:spPr>
          <a:xfrm>
            <a:off x="609600" y="120000"/>
            <a:ext cx="109728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3300"/>
          </a:p>
        </p:txBody>
      </p:sp>
      <p:sp>
        <p:nvSpPr>
          <p:cNvPr id="164" name="Google Shape;164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5" name="Google Shape;165;p1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67" name="Google Shape;167;p17"/>
          <p:cNvSpPr/>
          <p:nvPr/>
        </p:nvSpPr>
        <p:spPr>
          <a:xfrm>
            <a:off x="127550" y="101050"/>
            <a:ext cx="1940100" cy="503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ARISE@2026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400" name="GovBenefits" title="GovBenefits"/>
          <p:cNvPicPr preferRelativeResize="0"/>
          <p:nvPr/>
        </p:nvPicPr>
        <p:blipFill rotWithShape="1">
          <a:blip r:embed="rIdI1">
            <a:alphaModFix/>
          </a:blip>
          <a:stretch>
            <a:fillRect/>
          </a:stretch>
        </p:blipFill>
        <p:spPr>
          <a:xfrm>
            <a:off x="240000" y="730000"/>
            <a:ext cx="5760000" cy="262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401" name="InstBenefits" title="InstBenefits"/>
          <p:cNvPicPr preferRelativeResize="0"/>
          <p:nvPr/>
        </p:nvPicPr>
        <p:blipFill rotWithShape="1">
          <a:blip r:embed="rIdI2">
            <a:alphaModFix/>
          </a:blip>
          <a:stretch>
            <a:fillRect/>
          </a:stretch>
        </p:blipFill>
        <p:spPr>
          <a:xfrm>
            <a:off x="6120000" y="730000"/>
            <a:ext cx="5760000" cy="262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402" name="StuBenefits" title="StuBenefits"/>
          <p:cNvPicPr preferRelativeResize="0"/>
          <p:nvPr/>
        </p:nvPicPr>
        <p:blipFill rotWithShape="1">
          <a:blip r:embed="rIdI3">
            <a:alphaModFix/>
          </a:blip>
          <a:stretch>
            <a:fillRect/>
          </a:stretch>
        </p:blipFill>
        <p:spPr>
          <a:xfrm>
            <a:off x="240000" y="3460000"/>
            <a:ext cx="5760000" cy="262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403" name="ImpactMetrics" title="ImpactMetrics"/>
          <p:cNvPicPr preferRelativeResize="0"/>
          <p:nvPr/>
        </p:nvPicPr>
        <p:blipFill rotWithShape="1">
          <a:blip r:embed="rIdI4">
            <a:alphaModFix/>
          </a:blip>
          <a:stretch>
            <a:fillRect/>
          </a:stretch>
        </p:blipFill>
        <p:spPr>
          <a:xfrm>
            <a:off x="6120000" y="3460000"/>
            <a:ext cx="5760000" cy="2620000"/>
          </a:xfrm>
          <a:prstGeom prst="rect">
            <a:avLst/>
          </a:prstGeom>
          <a:noFill/>
          <a:ln>
            <a:noFill/>
          </a:ln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199" name="SIH_Logo" title="SIH_Logo"/>
          <p:cNvPicPr preferRelativeResize="0"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10200000" y="80000"/>
            <a:ext cx="1750000" cy="8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>
            <p:ph type="title"/>
          </p:nvPr>
        </p:nvSpPr>
        <p:spPr>
          <a:xfrm>
            <a:off x="921740" y="120000"/>
            <a:ext cx="10198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475" lIns="84975" spcFirstLastPara="1" rIns="84975" wrap="square" tIns="42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46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3789"/>
          </a:p>
        </p:txBody>
      </p:sp>
      <p:sp>
        <p:nvSpPr>
          <p:cNvPr id="175" name="Google Shape;175;p18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6" name="Google Shape;176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6952" y="112225"/>
            <a:ext cx="1921925" cy="9075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78" name="Google Shape;178;p18"/>
          <p:cNvSpPr/>
          <p:nvPr/>
        </p:nvSpPr>
        <p:spPr>
          <a:xfrm>
            <a:off x="127550" y="101050"/>
            <a:ext cx="1940100" cy="503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ARISE@2026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Card_Policy"/>
          <p:cNvSpPr txBox="1"/>
          <p:nvPr/>
        </p:nvSpPr>
        <p:spPr>
          <a:xfrm>
            <a:off x="240000" y="760000"/>
            <a:ext cx="5760000" cy="258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anchor="t" bIns="60000" lIns="90000" rIns="90000" tIns="60000" wrap="square"/>
          <a:lstStyle/>
          <a:p>
            <a:pPr>
              <a:spcAft val="60000"/>
              <a:buNone/>
            </a:pPr>
            <a:r>
              <a:rPr b="1" i="0" sz="1300" lang="en-US">
                <a:solidFill>
                  <a:srgbClr val="1E40AF"/>
                </a:solidFill>
                <a:latin typeface="Arial"/>
              </a:rPr>
              <a:t>REGULATORY &amp; POLICY FOUNDATIONS</a:t>
            </a:r>
          </a:p>
          <a:p>
            <a:pPr marL="160000" indent="-160000">
              <a:spcAft val="30000"/>
              <a:buFont typeface="Arial"/>
              <a:buChar char="▪"/>
              <a:buClr>
                <a:srgbClr val="1E40AF"/>
              </a:buClr>
            </a:pPr>
            <a:r>
              <a:rPr b="1" i="0" sz="1100" lang="en-US">
                <a:solidFill>
                  <a:srgbClr val="111827"/>
                </a:solidFill>
                <a:latin typeface="Arial"/>
              </a:rPr>
              <a:t>National Education Policy (NEP 2020) §4.3</a:t>
            </a:r>
          </a:p>
          <a:p>
            <a:pPr>
              <a:spcAft val="30000"/>
              <a:buNone/>
            </a:pPr>
            <a:r>
              <a:rPr b="0" i="0" sz="1000" lang="en-US">
                <a:solidFill>
                  <a:srgbClr val="4B5563"/>
                </a:solidFill>
                <a:latin typeface="Arial"/>
              </a:rPr>
              <a:t>Mandates automated lifelong academic registries and seamless student credit mobility across all higher education institutions in India.</a:t>
            </a:r>
          </a:p>
          <a:p>
            <a:pPr marL="160000" indent="-160000">
              <a:spcAft val="30000"/>
              <a:buFont typeface="Arial"/>
              <a:buChar char="▪"/>
              <a:buClr>
                <a:srgbClr val="1E40AF"/>
              </a:buClr>
            </a:pPr>
            <a:r>
              <a:rPr b="1" i="0" sz="1100" lang="en-US">
                <a:solidFill>
                  <a:srgbClr val="111827"/>
                </a:solidFill>
                <a:latin typeface="Arial"/>
              </a:rPr>
              <a:t>AICTE Approval Process Handbook (APH 2025-26)</a:t>
            </a:r>
          </a:p>
          <a:p>
            <a:pPr>
              <a:spcAft val="30000"/>
              <a:buNone/>
            </a:pPr>
            <a:r>
              <a:rPr b="0" i="0" sz="1000" lang="en-US">
                <a:solidFill>
                  <a:srgbClr val="4B5563"/>
                </a:solidFill>
                <a:latin typeface="Arial"/>
              </a:rPr>
              <a:t>Statutory definitions for approved intake capacity, supernumerary caps (15%), NRI/OCI quotas (5%), and punitive guidelines for unapproved excess admissions.</a:t>
            </a:r>
          </a:p>
          <a:p>
            <a:pPr marL="160000" indent="-160000">
              <a:spcAft val="30000"/>
              <a:buFont typeface="Arial"/>
              <a:buChar char="▪"/>
              <a:buClr>
                <a:srgbClr val="1E40AF"/>
              </a:buClr>
            </a:pPr>
            <a:r>
              <a:rPr b="1" i="0" sz="1100" lang="en-US">
                <a:solidFill>
                  <a:srgbClr val="111827"/>
                </a:solidFill>
                <a:latin typeface="Arial"/>
              </a:rPr>
              <a:t>Digital Personal Data Protection (DPDP) Act, 2023</a:t>
            </a:r>
          </a:p>
          <a:p>
            <a:pPr>
              <a:spcAft val="30000"/>
              <a:buNone/>
            </a:pPr>
            <a:r>
              <a:rPr b="0" i="0" sz="1000" lang="en-US">
                <a:solidFill>
                  <a:srgbClr val="4B5563"/>
                </a:solidFill>
                <a:latin typeface="Arial"/>
              </a:rPr>
              <a:t>Purpose-bound processing, lawful consent lifecycle, zero third-party disclosure without principal consent, and immutable audit compliance under Indian law.</a:t>
            </a:r>
          </a:p>
        </p:txBody>
      </p:sp>
      <p:sp>
        <p:nvSpPr>
          <p:cNvPr id="602" name="Card_Standards"/>
          <p:cNvSpPr txBox="1"/>
          <p:nvPr/>
        </p:nvSpPr>
        <p:spPr>
          <a:xfrm>
            <a:off x="6160000" y="760000"/>
            <a:ext cx="5760000" cy="258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anchor="t" bIns="60000" lIns="90000" rIns="90000" tIns="60000" wrap="square"/>
          <a:lstStyle/>
          <a:p>
            <a:pPr>
              <a:spcAft val="60000"/>
              <a:buNone/>
            </a:pPr>
            <a:r>
              <a:rPr b="1" i="0" sz="1300" lang="en-US">
                <a:solidFill>
                  <a:srgbClr val="1E40AF"/>
                </a:solidFill>
                <a:latin typeface="Arial"/>
              </a:rPr>
              <a:t>STANDARDS &amp; TECHNICAL PROTOCOLS</a:t>
            </a:r>
          </a:p>
          <a:p>
            <a:pPr marL="160000" indent="-160000">
              <a:spcAft val="30000"/>
              <a:buFont typeface="Arial"/>
              <a:buChar char="▪"/>
              <a:buClr>
                <a:srgbClr val="1E40AF"/>
              </a:buClr>
            </a:pPr>
            <a:r>
              <a:rPr b="1" i="0" sz="1100" lang="en-US">
                <a:solidFill>
                  <a:srgbClr val="111827"/>
                </a:solidFill>
                <a:latin typeface="Arial"/>
              </a:rPr>
              <a:t>W3C Verifiable Credentials Data Model v2.0</a:t>
            </a:r>
          </a:p>
          <a:p>
            <a:pPr>
              <a:spcAft val="30000"/>
              <a:buNone/>
            </a:pPr>
            <a:r>
              <a:rPr b="0" i="0" sz="1000" lang="en-US">
                <a:solidFill>
                  <a:srgbClr val="4B5563"/>
                </a:solidFill>
                <a:latin typeface="Arial"/>
              </a:rPr>
              <a:t>Machine-verifiable, tamper-evident credential payload structures supporting selective attribute disclosure and cryptographic proof.</a:t>
            </a:r>
          </a:p>
          <a:p>
            <a:pPr marL="160000" indent="-160000">
              <a:spcAft val="30000"/>
              <a:buFont typeface="Arial"/>
              <a:buChar char="▪"/>
              <a:buClr>
                <a:srgbClr val="1E40AF"/>
              </a:buClr>
            </a:pPr>
            <a:r>
              <a:rPr b="1" i="0" sz="1100" lang="en-US">
                <a:solidFill>
                  <a:srgbClr val="111827"/>
                </a:solidFill>
                <a:latin typeface="Arial"/>
              </a:rPr>
              <a:t>W3C Decentralized Identifiers (DIDs) v1.0</a:t>
            </a:r>
          </a:p>
          <a:p>
            <a:pPr>
              <a:spcAft val="30000"/>
              <a:buNone/>
            </a:pPr>
            <a:r>
              <a:rPr b="0" i="0" sz="1000" lang="en-US">
                <a:solidFill>
                  <a:srgbClr val="4B5563"/>
                </a:solidFill>
                <a:latin typeface="Arial"/>
              </a:rPr>
              <a:t>did:web method specification for trust federation and key resolution directly linked to AICTE's verified government domain root (aicte.gov.in).</a:t>
            </a:r>
          </a:p>
          <a:p>
            <a:pPr marL="160000" indent="-160000">
              <a:spcAft val="30000"/>
              <a:buFont typeface="Arial"/>
              <a:buChar char="▪"/>
              <a:buClr>
                <a:srgbClr val="1E40AF"/>
              </a:buClr>
            </a:pPr>
            <a:r>
              <a:rPr b="1" i="0" sz="1100" lang="en-US">
                <a:solidFill>
                  <a:srgbClr val="111827"/>
                </a:solidFill>
                <a:latin typeface="Arial"/>
              </a:rPr>
              <a:t>RFC 8032 — Edwards-Curve Digital Signatures (Ed25519)</a:t>
            </a:r>
          </a:p>
          <a:p>
            <a:pPr>
              <a:spcAft val="30000"/>
              <a:buNone/>
            </a:pPr>
            <a:r>
              <a:rPr b="0" i="0" sz="1000" lang="en-US">
                <a:solidFill>
                  <a:srgbClr val="4B5563"/>
                </a:solidFill>
                <a:latin typeface="Arial"/>
              </a:rPr>
              <a:t>High-speed, collision-resistant public key cryptography enabling instant offline verification in under 5 milliseconds on standard mobile processors.</a:t>
            </a:r>
          </a:p>
        </p:txBody>
      </p:sp>
      <p:sp>
        <p:nvSpPr>
          <p:cNvPr id="603" name="Card_Research"/>
          <p:cNvSpPr txBox="1"/>
          <p:nvPr/>
        </p:nvSpPr>
        <p:spPr>
          <a:xfrm>
            <a:off x="240000" y="3440000"/>
            <a:ext cx="5760000" cy="258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anchor="t" bIns="60000" lIns="90000" rIns="90000" tIns="60000" wrap="square"/>
          <a:lstStyle/>
          <a:p>
            <a:pPr>
              <a:spcAft val="60000"/>
              <a:buNone/>
            </a:pPr>
            <a:r>
              <a:rPr b="1" i="0" sz="1300" lang="en-US">
                <a:solidFill>
                  <a:srgbClr val="1E40AF"/>
                </a:solidFill>
                <a:latin typeface="Arial"/>
              </a:rPr>
              <a:t>ALGORITHMIC &amp; DETECTION RESEARCH</a:t>
            </a:r>
          </a:p>
          <a:p>
            <a:pPr marL="160000" indent="-160000">
              <a:spcAft val="30000"/>
              <a:buFont typeface="Arial"/>
              <a:buChar char="▪"/>
              <a:buClr>
                <a:srgbClr val="1E40AF"/>
              </a:buClr>
            </a:pPr>
            <a:r>
              <a:rPr b="1" i="0" sz="1100" lang="en-US">
                <a:solidFill>
                  <a:srgbClr val="111827"/>
                </a:solidFill>
                <a:latin typeface="Arial"/>
              </a:rPr>
              <a:t>Isolation Forest Algorithm for Anomaly Detection</a:t>
            </a:r>
          </a:p>
          <a:p>
            <a:pPr>
              <a:spcAft val="30000"/>
              <a:buNone/>
            </a:pPr>
            <a:r>
              <a:rPr b="0" i="0" sz="1000" lang="en-US">
                <a:solidFill>
                  <a:srgbClr val="4B5563"/>
                </a:solidFill>
                <a:latin typeface="Arial"/>
              </a:rPr>
              <a:t>Liu, Ting, Zhou (ACM TKDD 2012). Multi-dimensional isolation tree scoring for detecting abnormal spot-round bursts, NRI ratio surges, and ghost student patterns.</a:t>
            </a:r>
          </a:p>
          <a:p>
            <a:pPr marL="160000" indent="-160000">
              <a:spcAft val="30000"/>
              <a:buFont typeface="Arial"/>
              <a:buChar char="▪"/>
              <a:buClr>
                <a:srgbClr val="1E40AF"/>
              </a:buClr>
            </a:pPr>
            <a:r>
              <a:rPr b="1" i="0" sz="1100" lang="en-US">
                <a:solidFill>
                  <a:srgbClr val="111827"/>
                </a:solidFill>
                <a:latin typeface="Arial"/>
              </a:rPr>
              <a:t>Robust Z-Score &amp; Median Absolute Deviation (MAD)</a:t>
            </a:r>
          </a:p>
          <a:p>
            <a:pPr>
              <a:spcAft val="30000"/>
              <a:buNone/>
            </a:pPr>
            <a:r>
              <a:rPr b="0" i="0" sz="1000" lang="en-US">
                <a:solidFill>
                  <a:srgbClr val="4B5563"/>
                </a:solidFill>
                <a:latin typeface="Arial"/>
              </a:rPr>
              <a:t>Rousseeuw &amp; Croux (JASA 1993). Outlier resistance on skewed admission cohorts to minimize false-positive regulatory penalties across diverse peer institutions.</a:t>
            </a:r>
          </a:p>
          <a:p>
            <a:pPr marL="160000" indent="-160000">
              <a:spcAft val="30000"/>
              <a:buFont typeface="Arial"/>
              <a:buChar char="▪"/>
              <a:buClr>
                <a:srgbClr val="1E40AF"/>
              </a:buClr>
            </a:pPr>
            <a:r>
              <a:rPr b="1" i="0" sz="1100" lang="en-US">
                <a:solidFill>
                  <a:srgbClr val="111827"/>
                </a:solidFill>
                <a:latin typeface="Arial"/>
              </a:rPr>
              <a:t>Cryptographic Hash Chaining &amp; Forward Integrity</a:t>
            </a:r>
          </a:p>
          <a:p>
            <a:pPr>
              <a:spcAft val="30000"/>
              <a:buNone/>
            </a:pPr>
            <a:r>
              <a:rPr b="0" i="0" sz="1000" lang="en-US">
                <a:solidFill>
                  <a:srgbClr val="4B5563"/>
                </a:solidFill>
                <a:latin typeface="Arial"/>
              </a:rPr>
              <a:t>Bellare &amp; Yee (IEEE S&amp;P). Append-only tamper-evident audit logging ensuring non-repudiation across all regulatory and institutional data mutations.</a:t>
            </a:r>
          </a:p>
        </p:txBody>
      </p:sp>
      <p:sp>
        <p:nvSpPr>
          <p:cNvPr id="604" name="Card_Prototype"/>
          <p:cNvSpPr txBox="1"/>
          <p:nvPr/>
        </p:nvSpPr>
        <p:spPr>
          <a:xfrm>
            <a:off x="6160000" y="3440000"/>
            <a:ext cx="5760000" cy="258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anchor="t" bIns="60000" lIns="90000" rIns="90000" tIns="60000" wrap="square"/>
          <a:lstStyle/>
          <a:p>
            <a:pPr>
              <a:spcAft val="60000"/>
              <a:buNone/>
            </a:pPr>
            <a:r>
              <a:rPr b="1" i="0" sz="1300" lang="en-US">
                <a:solidFill>
                  <a:srgbClr val="1E40AF"/>
                </a:solidFill>
                <a:latin typeface="Arial"/>
              </a:rPr>
              <a:t>PROTOTYPE IMPLEMENTATION &amp; PILOT STATUS</a:t>
            </a:r>
          </a:p>
          <a:p>
            <a:pPr marL="160000" indent="-160000">
              <a:spcAft val="30000"/>
              <a:buFont typeface="Arial"/>
              <a:buChar char="▪"/>
              <a:buClr>
                <a:srgbClr val="1E40AF"/>
              </a:buClr>
            </a:pPr>
            <a:r>
              <a:rPr b="1" i="0" sz="1100" lang="en-US">
                <a:solidFill>
                  <a:srgbClr val="111827"/>
                </a:solidFill>
                <a:latin typeface="Arial"/>
              </a:rPr>
              <a:t>Full Prototype Implementation (Smart India Hackathon 2026)</a:t>
            </a:r>
          </a:p>
          <a:p>
            <a:pPr>
              <a:spcAft val="30000"/>
              <a:buNone/>
            </a:pPr>
            <a:r>
              <a:rPr b="0" i="0" sz="1000" lang="en-US">
                <a:solidFill>
                  <a:srgbClr val="4B5563"/>
                </a:solidFill>
                <a:latin typeface="Arial"/>
              </a:rPr>
              <a:t>Tested on 1,000,000+ synthetic student enrolments across 1,600+ AICTE institutions. Sub-second validation latency and 100% plant-detection recall.</a:t>
            </a:r>
          </a:p>
          <a:p>
            <a:pPr marL="160000" indent="-160000">
              <a:spcAft val="30000"/>
              <a:buFont typeface="Arial"/>
              <a:buChar char="▪"/>
              <a:buClr>
                <a:srgbClr val="1E40AF"/>
              </a:buClr>
            </a:pPr>
            <a:r>
              <a:rPr b="1" i="0" sz="1100" lang="en-US">
                <a:solidFill>
                  <a:srgbClr val="111827"/>
                </a:solidFill>
                <a:latin typeface="Arial"/>
              </a:rPr>
              <a:t>Live Demonstration System Available</a:t>
            </a:r>
          </a:p>
          <a:p>
            <a:pPr>
              <a:spcAft val="30000"/>
              <a:buNone/>
            </a:pPr>
            <a:r>
              <a:rPr b="0" i="0" sz="1000" lang="en-US">
                <a:solidFill>
                  <a:srgbClr val="4B5563"/>
                </a:solidFill>
                <a:latin typeface="Arial"/>
              </a:rPr>
              <a:t>Interactive multi-role web platform supporting AICTE Regulator, Institution Registrar, Student, and Public Offline Verifier modes.</a:t>
            </a:r>
          </a:p>
          <a:p>
            <a:pPr marL="160000" indent="-160000">
              <a:spcAft val="30000"/>
              <a:buFont typeface="Arial"/>
              <a:buChar char="▪"/>
              <a:buClr>
                <a:srgbClr val="1E40AF"/>
              </a:buClr>
            </a:pPr>
            <a:r>
              <a:rPr b="1" i="0" sz="1100" lang="en-US">
                <a:solidFill>
                  <a:srgbClr val="111827"/>
                </a:solidFill>
                <a:latin typeface="Arial"/>
              </a:rPr>
              <a:t>Open API &amp; MeghRaj Cloud Readiness</a:t>
            </a:r>
          </a:p>
          <a:p>
            <a:pPr>
              <a:spcAft val="30000"/>
              <a:buNone/>
            </a:pPr>
            <a:r>
              <a:rPr b="0" i="0" sz="1000" lang="en-US">
                <a:solidFill>
                  <a:srgbClr val="4B5563"/>
                </a:solidFill>
                <a:latin typeface="Arial"/>
              </a:rPr>
              <a:t>OpenAPI 3.1 specifications, containerized modular architecture, and zero Aadhaar storage compliance for instant NIC MeghRaj cloud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